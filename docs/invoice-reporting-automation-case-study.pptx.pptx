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embeddedFontLst>
    <p:embeddedFont>
      <p:font typeface="Nunito"/>
      <p:regular r:id="rId19"/>
      <p:bold r:id="rId20"/>
      <p:italic r:id="rId21"/>
      <p:boldItalic r:id="rId22"/>
    </p:embeddedFont>
    <p:embeddedFont>
      <p:font typeface="Inter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huHACckyUi8Lry3Bl004VL7CR/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22" Type="http://schemas.openxmlformats.org/officeDocument/2006/relationships/font" Target="fonts/Nunito-boldItalic.fntdata"/><Relationship Id="rId21" Type="http://schemas.openxmlformats.org/officeDocument/2006/relationships/font" Target="fonts/Nunito-italic.fntdata"/><Relationship Id="rId24" Type="http://schemas.openxmlformats.org/officeDocument/2006/relationships/font" Target="fonts/InterMedium-bold.fntdata"/><Relationship Id="rId23" Type="http://schemas.openxmlformats.org/officeDocument/2006/relationships/font" Target="fonts/InterMedium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Medium-boldItalic.fntdata"/><Relationship Id="rId25" Type="http://schemas.openxmlformats.org/officeDocument/2006/relationships/font" Target="fonts/InterMedium-italic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Nunito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b27c68e660_1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b27c68e660_1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b27c68e660_1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b4cd708f61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b4cd708f61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b4cd708f61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27c68e660_0_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g3b27c68e660_0_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g3b27c68e660_0_4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g3b27c68e660_0_4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" name="Google Shape;18;g3b27c68e660_0_4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9" name="Google Shape;19;g3b27c68e660_0_4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g3b27c68e660_0_4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g3b27c68e660_0_4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g3b27c68e660_0_4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23" name="Google Shape;23;g3b27c68e660_0_4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g3b27c68e660_0_4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g3b27c68e660_0_4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g3b27c68e660_0_4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7" name="Google Shape;27;g3b27c68e660_0_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g3b27c68e660_0_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g3b27c68e660_0_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g3b27c68e660_0_4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31" name="Google Shape;31;g3b27c68e660_0_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g3b27c68e660_0_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g3b27c68e660_0_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" name="Google Shape;34;g3b27c68e660_0_4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5" name="Google Shape;35;g3b27c68e660_0_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g3b27c68e660_0_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g3b27c68e660_0_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" name="Google Shape;38;g3b27c68e660_0_4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9" name="Google Shape;39;g3b27c68e660_0_4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g3b27c68e660_0_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27c68e660_0_32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" name="Google Shape;43;g3b27c68e660_0_32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4" name="Google Shape;44;g3b27c68e660_0_3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g3b27c68e660_0_3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g3b27c68e660_0_3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" name="Google Shape;47;g3b27c68e660_0_32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8" name="Google Shape;48;g3b27c68e660_0_3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g3b27c68e660_0_3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g3b27c68e660_0_3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" name="Google Shape;51;g3b27c68e660_0_32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2" name="Google Shape;52;g3b27c68e660_0_3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b27c68e660_0_4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b27c68e660_0_4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b27c68e660_0_4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b27c68e660_0_4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8" name="Google Shape;58;g3b27c68e660_0_4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9" name="Google Shape;59;g3b27c68e660_0_4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27c68e660_0_51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b27c68e660_0_51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b27c68e660_0_51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b27c68e660_0_5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5" name="Google Shape;65;g3b27c68e660_0_51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6" name="Google Shape;66;g3b27c68e660_0_51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7" name="Google Shape;67;g3b27c68e660_0_5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27c68e660_0_5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b27c68e660_0_5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b27c68e660_0_5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b27c68e660_0_5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3" name="Google Shape;73;g3b27c68e660_0_5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27c68e660_0_6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b27c68e660_0_6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b27c68e660_0_6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b27c68e660_0_65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9" name="Google Shape;79;g3b27c68e660_0_65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0" name="Google Shape;80;g3b27c68e660_0_6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27c68e660_0_72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b27c68e660_0_72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g3b27c68e660_0_72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5" name="Google Shape;85;g3b27c68e660_0_72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g3b27c68e660_0_72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g3b27c68e660_0_72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g3b27c68e660_0_72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" name="Google Shape;89;g3b27c68e660_0_72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90" name="Google Shape;90;g3b27c68e660_0_7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g3b27c68e660_0_7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g3b27c68e660_0_7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" name="Google Shape;93;g3b27c68e660_0_72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4" name="Google Shape;94;g3b27c68e660_0_7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g3b27c68e660_0_7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g3b27c68e660_0_7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g3b27c68e660_0_72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8" name="Google Shape;98;g3b27c68e660_0_7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27c68e660_0_9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b27c68e660_0_9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b27c68e660_0_9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b27c68e660_0_90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4" name="Google Shape;104;g3b27c68e660_0_90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g3b27c68e660_0_90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6" name="Google Shape;106;g3b27c68e660_0_9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27c68e660_0_98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b27c68e660_0_98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b27c68e660_0_9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b27c68e660_0_98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12" name="Google Shape;112;g3b27c68e660_0_9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27c68e660_0_104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" name="Google Shape;115;g3b27c68e660_0_104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6" name="Google Shape;116;g3b27c68e660_0_10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g3b27c68e660_0_10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g3b27c68e660_0_10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" name="Google Shape;119;g3b27c68e660_0_104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20" name="Google Shape;120;g3b27c68e660_0_10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g3b27c68e660_0_10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g3b27c68e660_0_10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" name="Google Shape;123;g3b27c68e660_0_104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4" name="Google Shape;124;g3b27c68e660_0_104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5" name="Google Shape;125;g3b27c68e660_0_10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27c68e660_0_11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27c68e660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" name="Google Shape;11;g3b27c68e660_0_0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3b27c68e660_0_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12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4" name="Google Shape;13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2325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"/>
          <p:cNvSpPr/>
          <p:nvPr/>
        </p:nvSpPr>
        <p:spPr>
          <a:xfrm>
            <a:off x="428625" y="649412"/>
            <a:ext cx="2800350" cy="2200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292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862"/>
              <a:buFont typeface="Calibri"/>
              <a:buNone/>
            </a:pPr>
            <a:r>
              <a:rPr b="1" i="0" lang="en-US" sz="2862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Automat</a:t>
            </a:r>
            <a:r>
              <a:rPr b="1" lang="en-US" sz="2862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ion of </a:t>
            </a:r>
            <a:r>
              <a:rPr b="1" i="0" lang="en-US" sz="2862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Invoice Reporting with UiPath Web Studio</a:t>
            </a:r>
            <a:endParaRPr b="0" i="0" sz="28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428625" y="3203278"/>
            <a:ext cx="28005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724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Intelligent Document Processing &amp; AI-Powered Automation</a:t>
            </a:r>
            <a:endParaRPr b="0" i="0" sz="1269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9724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69"/>
              <a:buFont typeface="Calibri"/>
              <a:buNone/>
            </a:pPr>
            <a:r>
              <a:t/>
            </a:r>
            <a:endParaRPr sz="1269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"/>
          <p:cNvSpPr/>
          <p:nvPr/>
        </p:nvSpPr>
        <p:spPr>
          <a:xfrm>
            <a:off x="428625" y="3929704"/>
            <a:ext cx="2800350" cy="564356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"/>
          <p:cNvSpPr/>
          <p:nvPr/>
        </p:nvSpPr>
        <p:spPr>
          <a:xfrm>
            <a:off x="428625" y="3929704"/>
            <a:ext cx="2800350" cy="14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"/>
          <p:cNvSpPr/>
          <p:nvPr/>
        </p:nvSpPr>
        <p:spPr>
          <a:xfrm>
            <a:off x="428625" y="2712020"/>
            <a:ext cx="8721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85"/>
              <a:buFont typeface="Calibri"/>
              <a:buNone/>
            </a:pPr>
            <a:r>
              <a:rPr b="1" lang="en-US" sz="1285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Lesley Colon</a:t>
            </a:r>
            <a:endParaRPr b="0" i="0" sz="12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"/>
          <p:cNvSpPr/>
          <p:nvPr/>
        </p:nvSpPr>
        <p:spPr>
          <a:xfrm>
            <a:off x="1372298" y="4311895"/>
            <a:ext cx="40931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42"/>
              <a:buFont typeface="Calibri"/>
              <a:buNone/>
            </a:pPr>
            <a:r>
              <a:t/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"/>
          <p:cNvSpPr/>
          <p:nvPr/>
        </p:nvSpPr>
        <p:spPr>
          <a:xfrm>
            <a:off x="3931909" y="514350"/>
            <a:ext cx="4937754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3" name="Google Shape;14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74784" y="1385022"/>
            <a:ext cx="4652004" cy="2373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1150" y="1015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"/>
          <p:cNvSpPr txBox="1"/>
          <p:nvPr/>
        </p:nvSpPr>
        <p:spPr>
          <a:xfrm>
            <a:off x="328800" y="46903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200">
                <a:solidFill>
                  <a:srgbClr val="2A2A2A"/>
                </a:solidFill>
                <a:latin typeface="Inter Medium"/>
                <a:ea typeface="Inter Medium"/>
                <a:cs typeface="Inter Medium"/>
                <a:sym typeface="Inter Medium"/>
              </a:rPr>
              <a:t>AI Automation | Project 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1" name="Google Shape;15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"/>
          <p:cNvSpPr/>
          <p:nvPr/>
        </p:nvSpPr>
        <p:spPr>
          <a:xfrm>
            <a:off x="571500" y="428625"/>
            <a:ext cx="8001000" cy="94833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"/>
          <p:cNvSpPr/>
          <p:nvPr/>
        </p:nvSpPr>
        <p:spPr>
          <a:xfrm>
            <a:off x="571500" y="428625"/>
            <a:ext cx="57150" cy="948333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"/>
          <p:cNvSpPr/>
          <p:nvPr/>
        </p:nvSpPr>
        <p:spPr>
          <a:xfrm>
            <a:off x="785813" y="428625"/>
            <a:ext cx="7786688" cy="40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The Business Challenge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785813" y="909042"/>
            <a:ext cx="5715000" cy="467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Manual Invoice Management Consumes Significant Time and Introduces Costly Errors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571500" y="1734145"/>
            <a:ext cx="3821906" cy="2062758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"/>
          <p:cNvSpPr/>
          <p:nvPr/>
        </p:nvSpPr>
        <p:spPr>
          <a:xfrm>
            <a:off x="571500" y="1734145"/>
            <a:ext cx="3821906" cy="28575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"/>
          <p:cNvSpPr/>
          <p:nvPr/>
        </p:nvSpPr>
        <p:spPr>
          <a:xfrm>
            <a:off x="714375" y="1877020"/>
            <a:ext cx="3536156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Key Pain Points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"/>
          <p:cNvSpPr/>
          <p:nvPr/>
        </p:nvSpPr>
        <p:spPr>
          <a:xfrm>
            <a:off x="714375" y="2214563"/>
            <a:ext cx="353615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Invoice opening and data extraction is time-consuming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"/>
          <p:cNvSpPr/>
          <p:nvPr/>
        </p:nvSpPr>
        <p:spPr>
          <a:xfrm>
            <a:off x="714375" y="2496741"/>
            <a:ext cx="353615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Manual copying creates bottlenecks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"/>
          <p:cNvSpPr/>
          <p:nvPr/>
        </p:nvSpPr>
        <p:spPr>
          <a:xfrm>
            <a:off x="714375" y="2778919"/>
            <a:ext cx="353615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Skim-reading lacks consistency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"/>
          <p:cNvSpPr/>
          <p:nvPr/>
        </p:nvSpPr>
        <p:spPr>
          <a:xfrm>
            <a:off x="714375" y="3061097"/>
            <a:ext cx="353615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High error risk with manual data entry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"/>
          <p:cNvSpPr/>
          <p:nvPr/>
        </p:nvSpPr>
        <p:spPr>
          <a:xfrm>
            <a:off x="714375" y="3343275"/>
            <a:ext cx="353615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Not scalable during high-volume periods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"/>
          <p:cNvSpPr/>
          <p:nvPr/>
        </p:nvSpPr>
        <p:spPr>
          <a:xfrm>
            <a:off x="642938" y="3982641"/>
            <a:ext cx="3679031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Business Impact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"/>
          <p:cNvSpPr/>
          <p:nvPr/>
        </p:nvSpPr>
        <p:spPr>
          <a:xfrm>
            <a:off x="642938" y="4320183"/>
            <a:ext cx="3679031" cy="61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42"/>
              <a:buFont typeface="Calibri"/>
              <a:buNone/>
            </a:pPr>
            <a:r>
              <a:rPr b="0" i="1" lang="en-US" sz="942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 finance manager needs a clear, automated report of invoices due by September 22, 2025. The current fully manual process is error-prone and prevents strategic analysis.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"/>
          <p:cNvSpPr/>
          <p:nvPr/>
        </p:nvSpPr>
        <p:spPr>
          <a:xfrm>
            <a:off x="4750594" y="1902916"/>
            <a:ext cx="3821906" cy="30003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7" name="Google Shape;16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0594" y="2174630"/>
            <a:ext cx="3821906" cy="245692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"/>
          <p:cNvSpPr/>
          <p:nvPr/>
        </p:nvSpPr>
        <p:spPr>
          <a:xfrm>
            <a:off x="8743810" y="4793456"/>
            <a:ext cx="11444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8575" y="123950"/>
            <a:ext cx="866775" cy="1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5" name="Google Shape;17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"/>
          <p:cNvSpPr/>
          <p:nvPr/>
        </p:nvSpPr>
        <p:spPr>
          <a:xfrm>
            <a:off x="571500" y="428625"/>
            <a:ext cx="8001000" cy="71437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"/>
          <p:cNvSpPr/>
          <p:nvPr/>
        </p:nvSpPr>
        <p:spPr>
          <a:xfrm>
            <a:off x="571500" y="428625"/>
            <a:ext cx="57150" cy="714375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"/>
          <p:cNvSpPr/>
          <p:nvPr/>
        </p:nvSpPr>
        <p:spPr>
          <a:xfrm>
            <a:off x="785813" y="428625"/>
            <a:ext cx="7786688" cy="40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Solution Overview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/>
          <p:nvPr/>
        </p:nvSpPr>
        <p:spPr>
          <a:xfrm>
            <a:off x="785813" y="909042"/>
            <a:ext cx="7786688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AI-Powered Workflow Automates the Entire Invoice Processing Pipeline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571500" y="1285875"/>
            <a:ext cx="6429375" cy="642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This automation solution combines UiPath Web Studio, Document Understanding, and Generative AI to create an intelligent processing pipeline that eliminates manual intervention while maintaining high data quality standards.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571500" y="2071688"/>
            <a:ext cx="4629345" cy="142875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242" y="2143125"/>
            <a:ext cx="3489666" cy="128584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"/>
          <p:cNvSpPr/>
          <p:nvPr/>
        </p:nvSpPr>
        <p:spPr>
          <a:xfrm>
            <a:off x="5486400" y="2071688"/>
            <a:ext cx="200025" cy="200025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5486400" y="2071688"/>
            <a:ext cx="2000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06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"/>
          <p:cNvSpPr/>
          <p:nvPr/>
        </p:nvSpPr>
        <p:spPr>
          <a:xfrm>
            <a:off x="5757863" y="2070432"/>
            <a:ext cx="82195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Read invoices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"/>
          <p:cNvSpPr/>
          <p:nvPr/>
        </p:nvSpPr>
        <p:spPr>
          <a:xfrm>
            <a:off x="5486400" y="2266355"/>
            <a:ext cx="1139819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automatically from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"/>
          <p:cNvSpPr/>
          <p:nvPr/>
        </p:nvSpPr>
        <p:spPr>
          <a:xfrm>
            <a:off x="5486400" y="2433507"/>
            <a:ext cx="117877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Google Drive folder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"/>
          <p:cNvSpPr/>
          <p:nvPr/>
        </p:nvSpPr>
        <p:spPr>
          <a:xfrm>
            <a:off x="5486400" y="2677455"/>
            <a:ext cx="200025" cy="200025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"/>
          <p:cNvSpPr/>
          <p:nvPr/>
        </p:nvSpPr>
        <p:spPr>
          <a:xfrm>
            <a:off x="5486400" y="2677455"/>
            <a:ext cx="2000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06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"/>
          <p:cNvSpPr/>
          <p:nvPr/>
        </p:nvSpPr>
        <p:spPr>
          <a:xfrm>
            <a:off x="5757863" y="2676199"/>
            <a:ext cx="1080548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Extract structured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"/>
          <p:cNvSpPr/>
          <p:nvPr/>
        </p:nvSpPr>
        <p:spPr>
          <a:xfrm>
            <a:off x="5486400" y="2872122"/>
            <a:ext cx="129207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data: invoice number,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"/>
          <p:cNvSpPr/>
          <p:nvPr/>
        </p:nvSpPr>
        <p:spPr>
          <a:xfrm>
            <a:off x="5486400" y="3039275"/>
            <a:ext cx="1107672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supplier, due date,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"/>
          <p:cNvSpPr/>
          <p:nvPr/>
        </p:nvSpPr>
        <p:spPr>
          <a:xfrm>
            <a:off x="5486400" y="3206428"/>
            <a:ext cx="475534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amount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"/>
          <p:cNvSpPr/>
          <p:nvPr/>
        </p:nvSpPr>
        <p:spPr>
          <a:xfrm>
            <a:off x="5486400" y="3450375"/>
            <a:ext cx="200025" cy="200025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"/>
          <p:cNvSpPr/>
          <p:nvPr/>
        </p:nvSpPr>
        <p:spPr>
          <a:xfrm>
            <a:off x="5486400" y="3450375"/>
            <a:ext cx="2000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06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"/>
          <p:cNvSpPr/>
          <p:nvPr/>
        </p:nvSpPr>
        <p:spPr>
          <a:xfrm>
            <a:off x="5757863" y="3449120"/>
            <a:ext cx="1178384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Validate confidence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"/>
          <p:cNvSpPr/>
          <p:nvPr/>
        </p:nvSpPr>
        <p:spPr>
          <a:xfrm>
            <a:off x="5486400" y="3645043"/>
            <a:ext cx="992953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scores to ensure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"/>
          <p:cNvSpPr/>
          <p:nvPr/>
        </p:nvSpPr>
        <p:spPr>
          <a:xfrm>
            <a:off x="5486400" y="3812195"/>
            <a:ext cx="1164124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extraction accuracy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"/>
          <p:cNvSpPr/>
          <p:nvPr/>
        </p:nvSpPr>
        <p:spPr>
          <a:xfrm>
            <a:off x="7115175" y="2071688"/>
            <a:ext cx="200025" cy="200025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"/>
          <p:cNvSpPr/>
          <p:nvPr/>
        </p:nvSpPr>
        <p:spPr>
          <a:xfrm>
            <a:off x="7115175" y="2071688"/>
            <a:ext cx="2000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06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7386638" y="2070432"/>
            <a:ext cx="760363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Generate AI-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7115175" y="2266355"/>
            <a:ext cx="112000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powered purchase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"/>
          <p:cNvSpPr/>
          <p:nvPr/>
        </p:nvSpPr>
        <p:spPr>
          <a:xfrm>
            <a:off x="7115175" y="2433507"/>
            <a:ext cx="947328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descriptions for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"/>
          <p:cNvSpPr/>
          <p:nvPr/>
        </p:nvSpPr>
        <p:spPr>
          <a:xfrm>
            <a:off x="7115175" y="2600660"/>
            <a:ext cx="1011734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business context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"/>
          <p:cNvSpPr/>
          <p:nvPr/>
        </p:nvSpPr>
        <p:spPr>
          <a:xfrm>
            <a:off x="7115175" y="2844608"/>
            <a:ext cx="200025" cy="200025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"/>
          <p:cNvSpPr/>
          <p:nvPr/>
        </p:nvSpPr>
        <p:spPr>
          <a:xfrm>
            <a:off x="7115175" y="2844608"/>
            <a:ext cx="2000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06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"/>
          <p:cNvSpPr/>
          <p:nvPr/>
        </p:nvSpPr>
        <p:spPr>
          <a:xfrm>
            <a:off x="7386638" y="2843352"/>
            <a:ext cx="1048764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Filter by due date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"/>
          <p:cNvSpPr/>
          <p:nvPr/>
        </p:nvSpPr>
        <p:spPr>
          <a:xfrm>
            <a:off x="7115175" y="3039275"/>
            <a:ext cx="124731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(September 22, 2025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"/>
          <p:cNvSpPr/>
          <p:nvPr/>
        </p:nvSpPr>
        <p:spPr>
          <a:xfrm>
            <a:off x="7115175" y="3206428"/>
            <a:ext cx="559752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deadline)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"/>
          <p:cNvSpPr/>
          <p:nvPr/>
        </p:nvSpPr>
        <p:spPr>
          <a:xfrm>
            <a:off x="7115175" y="3450375"/>
            <a:ext cx="200025" cy="200025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"/>
          <p:cNvSpPr/>
          <p:nvPr/>
        </p:nvSpPr>
        <p:spPr>
          <a:xfrm>
            <a:off x="7115175" y="3450375"/>
            <a:ext cx="2000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06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"/>
          <p:cNvSpPr/>
          <p:nvPr/>
        </p:nvSpPr>
        <p:spPr>
          <a:xfrm>
            <a:off x="7386638" y="3449120"/>
            <a:ext cx="962481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Write organized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"/>
          <p:cNvSpPr/>
          <p:nvPr/>
        </p:nvSpPr>
        <p:spPr>
          <a:xfrm>
            <a:off x="7115175" y="3645043"/>
            <a:ext cx="133141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data to Google Sheets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"/>
          <p:cNvSpPr/>
          <p:nvPr/>
        </p:nvSpPr>
        <p:spPr>
          <a:xfrm>
            <a:off x="7115175" y="3888991"/>
            <a:ext cx="200025" cy="200025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"/>
          <p:cNvSpPr/>
          <p:nvPr/>
        </p:nvSpPr>
        <p:spPr>
          <a:xfrm>
            <a:off x="7115175" y="3888991"/>
            <a:ext cx="2000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06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"/>
          <p:cNvSpPr/>
          <p:nvPr/>
        </p:nvSpPr>
        <p:spPr>
          <a:xfrm>
            <a:off x="7386638" y="3887735"/>
            <a:ext cx="1086827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Log any issues for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"/>
          <p:cNvSpPr/>
          <p:nvPr/>
        </p:nvSpPr>
        <p:spPr>
          <a:xfrm>
            <a:off x="7115175" y="4083658"/>
            <a:ext cx="1144172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manual review and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"/>
          <p:cNvSpPr/>
          <p:nvPr/>
        </p:nvSpPr>
        <p:spPr>
          <a:xfrm>
            <a:off x="7115175" y="4250810"/>
            <a:ext cx="1053647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quality assurance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"/>
          <p:cNvSpPr/>
          <p:nvPr/>
        </p:nvSpPr>
        <p:spPr>
          <a:xfrm>
            <a:off x="8743810" y="4793456"/>
            <a:ext cx="11444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6075" y="91525"/>
            <a:ext cx="866775" cy="1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6" name="Google Shape;226;g3b27c68e660_1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88917" y="-89700"/>
            <a:ext cx="9303463" cy="523319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3b27c68e660_1_4"/>
          <p:cNvSpPr/>
          <p:nvPr/>
        </p:nvSpPr>
        <p:spPr>
          <a:xfrm>
            <a:off x="348200" y="1469025"/>
            <a:ext cx="1205700" cy="25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92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862"/>
              <a:buFont typeface="Calibri"/>
              <a:buNone/>
            </a:pPr>
            <a:r>
              <a:rPr b="1" lang="en-US" sz="2262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RPA </a:t>
            </a:r>
            <a:endParaRPr b="1" sz="2262">
              <a:solidFill>
                <a:srgbClr val="1A20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2292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862"/>
              <a:buFont typeface="Calibri"/>
              <a:buNone/>
            </a:pPr>
            <a:r>
              <a:rPr b="1" lang="en-US" sz="2262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Workflow </a:t>
            </a:r>
            <a:endParaRPr b="1" sz="2262">
              <a:solidFill>
                <a:srgbClr val="1A20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2292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862"/>
              <a:buFont typeface="Calibri"/>
              <a:buNone/>
            </a:pPr>
            <a:r>
              <a:rPr b="1" lang="en-US" sz="2262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Diagram</a:t>
            </a:r>
            <a:endParaRPr b="1" sz="2262">
              <a:solidFill>
                <a:srgbClr val="1A20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2292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862"/>
              <a:buFont typeface="Calibri"/>
              <a:buNone/>
            </a:pPr>
            <a:r>
              <a:rPr b="1" lang="en-US" sz="2262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continued</a:t>
            </a:r>
            <a:endParaRPr b="1" sz="2262">
              <a:solidFill>
                <a:srgbClr val="1A20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b27c68e660_1_4"/>
          <p:cNvSpPr/>
          <p:nvPr/>
        </p:nvSpPr>
        <p:spPr>
          <a:xfrm>
            <a:off x="428625" y="3929704"/>
            <a:ext cx="2800500" cy="56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b27c68e660_1_4"/>
          <p:cNvSpPr/>
          <p:nvPr/>
        </p:nvSpPr>
        <p:spPr>
          <a:xfrm>
            <a:off x="428625" y="3929704"/>
            <a:ext cx="28005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b27c68e660_1_4"/>
          <p:cNvSpPr/>
          <p:nvPr/>
        </p:nvSpPr>
        <p:spPr>
          <a:xfrm>
            <a:off x="1372298" y="4311895"/>
            <a:ext cx="4092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42"/>
              <a:buFont typeface="Calibri"/>
              <a:buNone/>
            </a:pPr>
            <a:r>
              <a:t/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b27c68e660_1_4"/>
          <p:cNvSpPr/>
          <p:nvPr/>
        </p:nvSpPr>
        <p:spPr>
          <a:xfrm>
            <a:off x="3657600" y="-89700"/>
            <a:ext cx="5650200" cy="52332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2" name="Google Shape;232;g3b27c68e660_1_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150" y="101500"/>
            <a:ext cx="866775" cy="19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g3b27c68e660_1_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56418" y="-44850"/>
            <a:ext cx="284771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g3b27c68e660_1_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10022" y="-44850"/>
            <a:ext cx="295320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0" name="Google Shape;240;g3b4cd708f61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88925" y="-89700"/>
            <a:ext cx="9410899" cy="523319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3b4cd708f61_0_3"/>
          <p:cNvSpPr/>
          <p:nvPr/>
        </p:nvSpPr>
        <p:spPr>
          <a:xfrm>
            <a:off x="348200" y="1469025"/>
            <a:ext cx="1205700" cy="25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92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862"/>
              <a:buFont typeface="Calibri"/>
              <a:buNone/>
            </a:pPr>
            <a:r>
              <a:rPr b="1" lang="en-US" sz="2262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RPA </a:t>
            </a:r>
            <a:endParaRPr b="1" sz="2262">
              <a:solidFill>
                <a:srgbClr val="1A20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2292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862"/>
              <a:buFont typeface="Calibri"/>
              <a:buNone/>
            </a:pPr>
            <a:r>
              <a:rPr b="1" lang="en-US" sz="2262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Workflow </a:t>
            </a:r>
            <a:endParaRPr b="1" sz="2262">
              <a:solidFill>
                <a:srgbClr val="1A20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2292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862"/>
              <a:buFont typeface="Calibri"/>
              <a:buNone/>
            </a:pPr>
            <a:r>
              <a:rPr b="1" lang="en-US" sz="2262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Diagram</a:t>
            </a:r>
            <a:endParaRPr b="1" sz="2262">
              <a:solidFill>
                <a:srgbClr val="1A20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b4cd708f61_0_3"/>
          <p:cNvSpPr/>
          <p:nvPr/>
        </p:nvSpPr>
        <p:spPr>
          <a:xfrm>
            <a:off x="428625" y="3929704"/>
            <a:ext cx="2800500" cy="56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b4cd708f61_0_3"/>
          <p:cNvSpPr/>
          <p:nvPr/>
        </p:nvSpPr>
        <p:spPr>
          <a:xfrm>
            <a:off x="428625" y="3929704"/>
            <a:ext cx="28005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b4cd708f61_0_3"/>
          <p:cNvSpPr/>
          <p:nvPr/>
        </p:nvSpPr>
        <p:spPr>
          <a:xfrm>
            <a:off x="1372298" y="4311895"/>
            <a:ext cx="4092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42"/>
              <a:buFont typeface="Calibri"/>
              <a:buNone/>
            </a:pPr>
            <a:r>
              <a:t/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b4cd708f61_0_3"/>
          <p:cNvSpPr/>
          <p:nvPr/>
        </p:nvSpPr>
        <p:spPr>
          <a:xfrm>
            <a:off x="3657600" y="-89700"/>
            <a:ext cx="5650200" cy="52332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g3b4cd708f61_0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150" y="101500"/>
            <a:ext cx="866775" cy="19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3b4cd708f61_0_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48625" y="0"/>
            <a:ext cx="324675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pic>
      <p:pic>
        <p:nvPicPr>
          <p:cNvPr id="248" name="Google Shape;248;g3b4cd708f61_0_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98485" y="0"/>
            <a:ext cx="3428064" cy="2958075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4" name="Google Shape;25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9306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4"/>
          <p:cNvSpPr/>
          <p:nvPr/>
        </p:nvSpPr>
        <p:spPr>
          <a:xfrm>
            <a:off x="571500" y="428625"/>
            <a:ext cx="8001000" cy="71437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4"/>
          <p:cNvSpPr/>
          <p:nvPr/>
        </p:nvSpPr>
        <p:spPr>
          <a:xfrm>
            <a:off x="571500" y="428625"/>
            <a:ext cx="57150" cy="714375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4"/>
          <p:cNvSpPr/>
          <p:nvPr/>
        </p:nvSpPr>
        <p:spPr>
          <a:xfrm>
            <a:off x="785813" y="409113"/>
            <a:ext cx="77868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Step 1: Extracting Structured Data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4"/>
          <p:cNvSpPr/>
          <p:nvPr/>
        </p:nvSpPr>
        <p:spPr>
          <a:xfrm>
            <a:off x="785813" y="909042"/>
            <a:ext cx="7786688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Document Understanding Eliminates Manual Data Entry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4"/>
          <p:cNvSpPr/>
          <p:nvPr/>
        </p:nvSpPr>
        <p:spPr>
          <a:xfrm>
            <a:off x="571500" y="1428750"/>
            <a:ext cx="4400550" cy="82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UiPath Document Understanding uses intelligent OCR and machine learning-based field recognition to automatically process invoices from Google Drive, extracting key fields regardless of invoice format variations.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4"/>
          <p:cNvSpPr/>
          <p:nvPr/>
        </p:nvSpPr>
        <p:spPr>
          <a:xfrm>
            <a:off x="571500" y="2465933"/>
            <a:ext cx="4400550" cy="1259086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4"/>
          <p:cNvSpPr/>
          <p:nvPr/>
        </p:nvSpPr>
        <p:spPr>
          <a:xfrm>
            <a:off x="785813" y="2680246"/>
            <a:ext cx="397192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Fields Extracted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4"/>
          <p:cNvSpPr/>
          <p:nvPr/>
        </p:nvSpPr>
        <p:spPr>
          <a:xfrm>
            <a:off x="785813" y="2978497"/>
            <a:ext cx="191452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Invoice Number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4"/>
          <p:cNvSpPr/>
          <p:nvPr/>
        </p:nvSpPr>
        <p:spPr>
          <a:xfrm>
            <a:off x="2843213" y="2978497"/>
            <a:ext cx="191452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Supplier Name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4"/>
          <p:cNvSpPr/>
          <p:nvPr/>
        </p:nvSpPr>
        <p:spPr>
          <a:xfrm>
            <a:off x="785813" y="3316039"/>
            <a:ext cx="191452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Due Date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4"/>
          <p:cNvSpPr/>
          <p:nvPr/>
        </p:nvSpPr>
        <p:spPr>
          <a:xfrm>
            <a:off x="2843213" y="3316039"/>
            <a:ext cx="191452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Amount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4"/>
          <p:cNvSpPr/>
          <p:nvPr/>
        </p:nvSpPr>
        <p:spPr>
          <a:xfrm>
            <a:off x="571500" y="3939332"/>
            <a:ext cx="92980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4"/>
          <p:cNvSpPr/>
          <p:nvPr/>
        </p:nvSpPr>
        <p:spPr>
          <a:xfrm>
            <a:off x="771637" y="3946475"/>
            <a:ext cx="2633114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100% reduction in manual data entry errors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4"/>
          <p:cNvSpPr/>
          <p:nvPr/>
        </p:nvSpPr>
        <p:spPr>
          <a:xfrm>
            <a:off x="571500" y="4214366"/>
            <a:ext cx="92980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4"/>
          <p:cNvSpPr/>
          <p:nvPr/>
        </p:nvSpPr>
        <p:spPr>
          <a:xfrm>
            <a:off x="771637" y="4221510"/>
            <a:ext cx="261176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Instant processing (seconds per document)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4"/>
          <p:cNvSpPr/>
          <p:nvPr/>
        </p:nvSpPr>
        <p:spPr>
          <a:xfrm>
            <a:off x="571500" y="4489400"/>
            <a:ext cx="92980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4"/>
          <p:cNvSpPr/>
          <p:nvPr/>
        </p:nvSpPr>
        <p:spPr>
          <a:xfrm>
            <a:off x="771637" y="4496544"/>
            <a:ext cx="2791141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Consistent, accurate extraction across formats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4"/>
          <p:cNvSpPr/>
          <p:nvPr/>
        </p:nvSpPr>
        <p:spPr>
          <a:xfrm>
            <a:off x="8743810" y="4843016"/>
            <a:ext cx="11444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900" y="123925"/>
            <a:ext cx="866775" cy="19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84877" y="647875"/>
            <a:ext cx="3058925" cy="3941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0" name="Google Shape;28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5"/>
          <p:cNvSpPr/>
          <p:nvPr/>
        </p:nvSpPr>
        <p:spPr>
          <a:xfrm>
            <a:off x="571500" y="428625"/>
            <a:ext cx="8001000" cy="71437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5"/>
          <p:cNvSpPr/>
          <p:nvPr/>
        </p:nvSpPr>
        <p:spPr>
          <a:xfrm>
            <a:off x="571500" y="428625"/>
            <a:ext cx="57150" cy="714375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5"/>
          <p:cNvSpPr/>
          <p:nvPr/>
        </p:nvSpPr>
        <p:spPr>
          <a:xfrm>
            <a:off x="785813" y="428625"/>
            <a:ext cx="7786688" cy="40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Step 2: Quality Control Mechanism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5"/>
          <p:cNvSpPr/>
          <p:nvPr/>
        </p:nvSpPr>
        <p:spPr>
          <a:xfrm>
            <a:off x="785813" y="909042"/>
            <a:ext cx="7786688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Confidence Validation Ensures Data Quality Through Automated Quality Control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5"/>
          <p:cNvSpPr/>
          <p:nvPr/>
        </p:nvSpPr>
        <p:spPr>
          <a:xfrm>
            <a:off x="571500" y="1428750"/>
            <a:ext cx="64293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Document Understanding assigns a </a:t>
            </a:r>
            <a:r>
              <a:rPr b="1" i="0" lang="en-US" sz="987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confidence score (0.0–1.0)</a:t>
            </a:r>
            <a:r>
              <a:rPr b="0" i="0" lang="en-US" sz="10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 to each extracted field, indicating the AI's certainty. This score drives the automated decision logic.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5"/>
          <p:cNvSpPr/>
          <p:nvPr/>
        </p:nvSpPr>
        <p:spPr>
          <a:xfrm>
            <a:off x="571500" y="2243138"/>
            <a:ext cx="385762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Condition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5"/>
          <p:cNvSpPr/>
          <p:nvPr/>
        </p:nvSpPr>
        <p:spPr>
          <a:xfrm>
            <a:off x="571500" y="2469952"/>
            <a:ext cx="3857625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Score ≥ 0.7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5"/>
          <p:cNvSpPr/>
          <p:nvPr/>
        </p:nvSpPr>
        <p:spPr>
          <a:xfrm>
            <a:off x="571500" y="2986088"/>
            <a:ext cx="3857625" cy="108585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5"/>
          <p:cNvSpPr/>
          <p:nvPr/>
        </p:nvSpPr>
        <p:spPr>
          <a:xfrm>
            <a:off x="714375" y="3228082"/>
            <a:ext cx="357187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Proceed Automatically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5"/>
          <p:cNvSpPr/>
          <p:nvPr/>
        </p:nvSpPr>
        <p:spPr>
          <a:xfrm>
            <a:off x="714375" y="3479899"/>
            <a:ext cx="3571875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Data is considered accurate. Write row directly to Google Sheets.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5"/>
          <p:cNvSpPr/>
          <p:nvPr/>
        </p:nvSpPr>
        <p:spPr>
          <a:xfrm>
            <a:off x="4714875" y="2243138"/>
            <a:ext cx="385762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Condition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5"/>
          <p:cNvSpPr/>
          <p:nvPr/>
        </p:nvSpPr>
        <p:spPr>
          <a:xfrm>
            <a:off x="4714875" y="2469952"/>
            <a:ext cx="3857625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Score &lt; 0.7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5"/>
          <p:cNvSpPr/>
          <p:nvPr/>
        </p:nvSpPr>
        <p:spPr>
          <a:xfrm>
            <a:off x="4714875" y="2962870"/>
            <a:ext cx="3857625" cy="1109067"/>
          </a:xfrm>
          <a:prstGeom prst="rect">
            <a:avLst/>
          </a:prstGeom>
          <a:solidFill>
            <a:srgbClr val="FF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5"/>
          <p:cNvSpPr/>
          <p:nvPr/>
        </p:nvSpPr>
        <p:spPr>
          <a:xfrm>
            <a:off x="4857750" y="3216473"/>
            <a:ext cx="357187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Flag for Review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5"/>
          <p:cNvSpPr/>
          <p:nvPr/>
        </p:nvSpPr>
        <p:spPr>
          <a:xfrm>
            <a:off x="4857750" y="3468291"/>
            <a:ext cx="3571875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Log Warning: "Invoice requires manual check." Prevents bad data entry.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5"/>
          <p:cNvSpPr/>
          <p:nvPr/>
        </p:nvSpPr>
        <p:spPr>
          <a:xfrm>
            <a:off x="571500" y="4357688"/>
            <a:ext cx="8001000" cy="35718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5"/>
          <p:cNvSpPr/>
          <p:nvPr/>
        </p:nvSpPr>
        <p:spPr>
          <a:xfrm>
            <a:off x="571500" y="4357688"/>
            <a:ext cx="8001000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5"/>
          <p:cNvSpPr/>
          <p:nvPr/>
        </p:nvSpPr>
        <p:spPr>
          <a:xfrm>
            <a:off x="571500" y="4507706"/>
            <a:ext cx="10330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5"/>
          <p:cNvSpPr/>
          <p:nvPr/>
        </p:nvSpPr>
        <p:spPr>
          <a:xfrm>
            <a:off x="746243" y="4533602"/>
            <a:ext cx="153746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Alerts finance team to errors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5"/>
          <p:cNvSpPr/>
          <p:nvPr/>
        </p:nvSpPr>
        <p:spPr>
          <a:xfrm>
            <a:off x="3286125" y="4507706"/>
            <a:ext cx="10330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5"/>
          <p:cNvSpPr/>
          <p:nvPr/>
        </p:nvSpPr>
        <p:spPr>
          <a:xfrm>
            <a:off x="3460868" y="4533602"/>
            <a:ext cx="148729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Prevents bad data in Sheets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5"/>
          <p:cNvSpPr/>
          <p:nvPr/>
        </p:nvSpPr>
        <p:spPr>
          <a:xfrm>
            <a:off x="6000750" y="4507706"/>
            <a:ext cx="10330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5"/>
          <p:cNvSpPr/>
          <p:nvPr/>
        </p:nvSpPr>
        <p:spPr>
          <a:xfrm>
            <a:off x="6175493" y="4533602"/>
            <a:ext cx="175588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Maintains data quality standards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5"/>
          <p:cNvSpPr/>
          <p:nvPr/>
        </p:nvSpPr>
        <p:spPr>
          <a:xfrm>
            <a:off x="8743810" y="4793456"/>
            <a:ext cx="11444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" name="Google Shape;305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075" y="105800"/>
            <a:ext cx="866775" cy="19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0725" y="63050"/>
            <a:ext cx="3053825" cy="13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2" name="Google Shape;31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322094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6"/>
          <p:cNvSpPr/>
          <p:nvPr/>
        </p:nvSpPr>
        <p:spPr>
          <a:xfrm>
            <a:off x="571500" y="428625"/>
            <a:ext cx="8001000" cy="71437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6"/>
          <p:cNvSpPr/>
          <p:nvPr/>
        </p:nvSpPr>
        <p:spPr>
          <a:xfrm>
            <a:off x="571500" y="428625"/>
            <a:ext cx="57150" cy="714375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6"/>
          <p:cNvSpPr/>
          <p:nvPr/>
        </p:nvSpPr>
        <p:spPr>
          <a:xfrm>
            <a:off x="785813" y="428625"/>
            <a:ext cx="7786688" cy="40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Step 3: AI-Powered Purchase Descriptions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6"/>
          <p:cNvSpPr/>
          <p:nvPr/>
        </p:nvSpPr>
        <p:spPr>
          <a:xfrm>
            <a:off x="785813" y="909042"/>
            <a:ext cx="7786688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Generative AI Creates Business Context Automatically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6"/>
          <p:cNvSpPr/>
          <p:nvPr/>
        </p:nvSpPr>
        <p:spPr>
          <a:xfrm>
            <a:off x="571500" y="1428750"/>
            <a:ext cx="3600450" cy="228600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8" name="Google Shape;31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522" y="1608348"/>
            <a:ext cx="3420405" cy="1926803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6"/>
          <p:cNvSpPr/>
          <p:nvPr/>
        </p:nvSpPr>
        <p:spPr>
          <a:xfrm>
            <a:off x="571500" y="3886200"/>
            <a:ext cx="3600450" cy="425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50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Technology:</a:t>
            </a:r>
            <a:r>
              <a:rPr b="0" i="0" lang="en-US" sz="834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 UiPath GenAI Content Generation Activity using Large Language Models (LLMs).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6"/>
          <p:cNvSpPr/>
          <p:nvPr/>
        </p:nvSpPr>
        <p:spPr>
          <a:xfrm>
            <a:off x="4572000" y="1428750"/>
            <a:ext cx="4000500" cy="12644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6"/>
          <p:cNvSpPr/>
          <p:nvPr/>
        </p:nvSpPr>
        <p:spPr>
          <a:xfrm>
            <a:off x="4572000" y="1428750"/>
            <a:ext cx="28575" cy="1264444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6"/>
          <p:cNvSpPr/>
          <p:nvPr/>
        </p:nvSpPr>
        <p:spPr>
          <a:xfrm>
            <a:off x="4714875" y="1571625"/>
            <a:ext cx="371475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Custom Prompt Used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6"/>
          <p:cNvSpPr/>
          <p:nvPr/>
        </p:nvSpPr>
        <p:spPr>
          <a:xfrm>
            <a:off x="4714875" y="1778794"/>
            <a:ext cx="37147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1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"You are helping a finance manager understand invoices. Look at the invoice text and generate a very short description (max 15 words) of what the company is purchasing. Keep it plain and businesslike."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6"/>
          <p:cNvSpPr/>
          <p:nvPr/>
        </p:nvSpPr>
        <p:spPr>
          <a:xfrm>
            <a:off x="4572000" y="2864644"/>
            <a:ext cx="400050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Example Outputs Generated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6"/>
          <p:cNvSpPr/>
          <p:nvPr/>
        </p:nvSpPr>
        <p:spPr>
          <a:xfrm>
            <a:off x="4572000" y="3166467"/>
            <a:ext cx="128588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6"/>
          <p:cNvSpPr/>
          <p:nvPr/>
        </p:nvSpPr>
        <p:spPr>
          <a:xfrm>
            <a:off x="4714875" y="3166467"/>
            <a:ext cx="2143571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"Stage rental and catering services"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6"/>
          <p:cNvSpPr/>
          <p:nvPr/>
        </p:nvSpPr>
        <p:spPr>
          <a:xfrm>
            <a:off x="4572000" y="3412927"/>
            <a:ext cx="128588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6"/>
          <p:cNvSpPr/>
          <p:nvPr/>
        </p:nvSpPr>
        <p:spPr>
          <a:xfrm>
            <a:off x="4714875" y="3412927"/>
            <a:ext cx="1471054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"Office laptop purchase"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6"/>
          <p:cNvSpPr/>
          <p:nvPr/>
        </p:nvSpPr>
        <p:spPr>
          <a:xfrm>
            <a:off x="4572000" y="3659386"/>
            <a:ext cx="128588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6"/>
          <p:cNvSpPr/>
          <p:nvPr/>
        </p:nvSpPr>
        <p:spPr>
          <a:xfrm>
            <a:off x="4714875" y="3659386"/>
            <a:ext cx="2543873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"Cloud software licensing annual renewal"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6"/>
          <p:cNvSpPr/>
          <p:nvPr/>
        </p:nvSpPr>
        <p:spPr>
          <a:xfrm>
            <a:off x="4572000" y="3905845"/>
            <a:ext cx="128588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6"/>
          <p:cNvSpPr/>
          <p:nvPr/>
        </p:nvSpPr>
        <p:spPr>
          <a:xfrm>
            <a:off x="4714875" y="3905845"/>
            <a:ext cx="227034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"IT equipment maintenance contract"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4572000" y="4323755"/>
            <a:ext cx="4000500" cy="912614"/>
          </a:xfrm>
          <a:prstGeom prst="rect">
            <a:avLst/>
          </a:prstGeom>
          <a:solidFill>
            <a:srgbClr val="FF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6"/>
          <p:cNvSpPr/>
          <p:nvPr/>
        </p:nvSpPr>
        <p:spPr>
          <a:xfrm>
            <a:off x="4714875" y="4466630"/>
            <a:ext cx="371475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C05621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C05621"/>
                </a:solidFill>
                <a:latin typeface="Calibri"/>
                <a:ea typeface="Calibri"/>
                <a:cs typeface="Calibri"/>
                <a:sym typeface="Calibri"/>
              </a:rPr>
              <a:t>Why This Matters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4714875" y="4693444"/>
            <a:ext cx="78079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6"/>
          <p:cNvSpPr/>
          <p:nvPr/>
        </p:nvSpPr>
        <p:spPr>
          <a:xfrm>
            <a:off x="4850104" y="4697909"/>
            <a:ext cx="81098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Instant context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6"/>
          <p:cNvSpPr/>
          <p:nvPr/>
        </p:nvSpPr>
        <p:spPr>
          <a:xfrm>
            <a:off x="6607969" y="4693444"/>
            <a:ext cx="78079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6"/>
          <p:cNvSpPr/>
          <p:nvPr/>
        </p:nvSpPr>
        <p:spPr>
          <a:xfrm>
            <a:off x="6743198" y="4697909"/>
            <a:ext cx="952351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Saves review time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6"/>
          <p:cNvSpPr/>
          <p:nvPr/>
        </p:nvSpPr>
        <p:spPr>
          <a:xfrm>
            <a:off x="4714875" y="4929188"/>
            <a:ext cx="78079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6"/>
          <p:cNvSpPr/>
          <p:nvPr/>
        </p:nvSpPr>
        <p:spPr>
          <a:xfrm>
            <a:off x="4850104" y="4933652"/>
            <a:ext cx="117877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No need to open docs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6"/>
          <p:cNvSpPr/>
          <p:nvPr/>
        </p:nvSpPr>
        <p:spPr>
          <a:xfrm>
            <a:off x="6607969" y="4929188"/>
            <a:ext cx="78079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6"/>
          <p:cNvSpPr/>
          <p:nvPr/>
        </p:nvSpPr>
        <p:spPr>
          <a:xfrm>
            <a:off x="6743198" y="4933652"/>
            <a:ext cx="80891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Better auditing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6"/>
          <p:cNvSpPr/>
          <p:nvPr/>
        </p:nvSpPr>
        <p:spPr>
          <a:xfrm>
            <a:off x="8743810" y="4972050"/>
            <a:ext cx="11444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4" name="Google Shape;344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9013" y="86550"/>
            <a:ext cx="866775" cy="1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0" name="Google Shape;3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9262" y="-49075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7"/>
          <p:cNvSpPr/>
          <p:nvPr/>
        </p:nvSpPr>
        <p:spPr>
          <a:xfrm>
            <a:off x="571500" y="428625"/>
            <a:ext cx="8001000" cy="71437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7"/>
          <p:cNvSpPr/>
          <p:nvPr/>
        </p:nvSpPr>
        <p:spPr>
          <a:xfrm>
            <a:off x="571500" y="428625"/>
            <a:ext cx="57150" cy="714375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7"/>
          <p:cNvSpPr/>
          <p:nvPr/>
        </p:nvSpPr>
        <p:spPr>
          <a:xfrm>
            <a:off x="785813" y="428625"/>
            <a:ext cx="7786688" cy="40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Step 4: Organized Data Output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7"/>
          <p:cNvSpPr/>
          <p:nvPr/>
        </p:nvSpPr>
        <p:spPr>
          <a:xfrm>
            <a:off x="785813" y="909042"/>
            <a:ext cx="7786688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Structured Google Sheets Output Provides Finance Managers with a Clean Dashboard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7"/>
          <p:cNvSpPr/>
          <p:nvPr/>
        </p:nvSpPr>
        <p:spPr>
          <a:xfrm>
            <a:off x="685800" y="1443038"/>
            <a:ext cx="135759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■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7"/>
          <p:cNvSpPr/>
          <p:nvPr/>
        </p:nvSpPr>
        <p:spPr>
          <a:xfrm>
            <a:off x="892997" y="1469827"/>
            <a:ext cx="153018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Output_Report_2025.xlsx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7"/>
          <p:cNvSpPr/>
          <p:nvPr/>
        </p:nvSpPr>
        <p:spPr>
          <a:xfrm>
            <a:off x="2228404" y="1718072"/>
            <a:ext cx="7144" cy="355402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7"/>
          <p:cNvSpPr/>
          <p:nvPr/>
        </p:nvSpPr>
        <p:spPr>
          <a:xfrm>
            <a:off x="3708416" y="1718072"/>
            <a:ext cx="7144" cy="355402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7"/>
          <p:cNvSpPr/>
          <p:nvPr/>
        </p:nvSpPr>
        <p:spPr>
          <a:xfrm>
            <a:off x="4908872" y="1718072"/>
            <a:ext cx="7144" cy="355402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7"/>
          <p:cNvSpPr/>
          <p:nvPr/>
        </p:nvSpPr>
        <p:spPr>
          <a:xfrm>
            <a:off x="6305113" y="1718072"/>
            <a:ext cx="7144" cy="355402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7"/>
          <p:cNvSpPr/>
          <p:nvPr/>
        </p:nvSpPr>
        <p:spPr>
          <a:xfrm>
            <a:off x="571500" y="2073473"/>
            <a:ext cx="8001000" cy="350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7"/>
          <p:cNvSpPr/>
          <p:nvPr/>
        </p:nvSpPr>
        <p:spPr>
          <a:xfrm>
            <a:off x="571500" y="2423517"/>
            <a:ext cx="8001000" cy="350044"/>
          </a:xfrm>
          <a:prstGeom prst="rect">
            <a:avLst/>
          </a:prstGeom>
          <a:solidFill>
            <a:srgbClr val="FFFFFF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7"/>
          <p:cNvSpPr/>
          <p:nvPr/>
        </p:nvSpPr>
        <p:spPr>
          <a:xfrm>
            <a:off x="571500" y="2916436"/>
            <a:ext cx="8001000" cy="13806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7"/>
          <p:cNvSpPr/>
          <p:nvPr/>
        </p:nvSpPr>
        <p:spPr>
          <a:xfrm>
            <a:off x="571500" y="2916436"/>
            <a:ext cx="28575" cy="138053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7"/>
          <p:cNvSpPr/>
          <p:nvPr/>
        </p:nvSpPr>
        <p:spPr>
          <a:xfrm>
            <a:off x="785813" y="3130748"/>
            <a:ext cx="757237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Data Quality Standards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7"/>
          <p:cNvSpPr/>
          <p:nvPr/>
        </p:nvSpPr>
        <p:spPr>
          <a:xfrm>
            <a:off x="785813" y="3468291"/>
            <a:ext cx="123983" cy="2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"/>
          <p:cNvSpPr/>
          <p:nvPr/>
        </p:nvSpPr>
        <p:spPr>
          <a:xfrm>
            <a:off x="995521" y="3505795"/>
            <a:ext cx="2637858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All 5 columns populated with validated data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7"/>
          <p:cNvSpPr/>
          <p:nvPr/>
        </p:nvSpPr>
        <p:spPr>
          <a:xfrm>
            <a:off x="4657725" y="3468291"/>
            <a:ext cx="123983" cy="2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7"/>
          <p:cNvSpPr/>
          <p:nvPr/>
        </p:nvSpPr>
        <p:spPr>
          <a:xfrm>
            <a:off x="4867433" y="3498652"/>
            <a:ext cx="2393017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High confidence extractions only (≥0.7)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7"/>
          <p:cNvSpPr/>
          <p:nvPr/>
        </p:nvSpPr>
        <p:spPr>
          <a:xfrm>
            <a:off x="785813" y="3832622"/>
            <a:ext cx="123983" cy="2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7"/>
          <p:cNvSpPr/>
          <p:nvPr/>
        </p:nvSpPr>
        <p:spPr>
          <a:xfrm>
            <a:off x="995521" y="3870127"/>
            <a:ext cx="2632723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Only invoices due by Sept 22, 2025 included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7"/>
          <p:cNvSpPr/>
          <p:nvPr/>
        </p:nvSpPr>
        <p:spPr>
          <a:xfrm>
            <a:off x="4657725" y="3832622"/>
            <a:ext cx="123983" cy="2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7"/>
          <p:cNvSpPr/>
          <p:nvPr/>
        </p:nvSpPr>
        <p:spPr>
          <a:xfrm>
            <a:off x="4867433" y="3870127"/>
            <a:ext cx="2552467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AI descriptions provide immediate context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7"/>
          <p:cNvSpPr/>
          <p:nvPr/>
        </p:nvSpPr>
        <p:spPr>
          <a:xfrm>
            <a:off x="8743810" y="4793456"/>
            <a:ext cx="11444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5" name="Google Shape;375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" y="101500"/>
            <a:ext cx="866775" cy="19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1481763"/>
            <a:ext cx="8025281" cy="1219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2" name="Google Shape;38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8"/>
          <p:cNvSpPr/>
          <p:nvPr/>
        </p:nvSpPr>
        <p:spPr>
          <a:xfrm>
            <a:off x="571500" y="428625"/>
            <a:ext cx="8001000" cy="71437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8"/>
          <p:cNvSpPr/>
          <p:nvPr/>
        </p:nvSpPr>
        <p:spPr>
          <a:xfrm>
            <a:off x="571500" y="428625"/>
            <a:ext cx="57150" cy="714375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8"/>
          <p:cNvSpPr/>
          <p:nvPr/>
        </p:nvSpPr>
        <p:spPr>
          <a:xfrm>
            <a:off x="785813" y="428625"/>
            <a:ext cx="7786688" cy="40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Workflow Testing &amp; Validation Results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8"/>
          <p:cNvSpPr/>
          <p:nvPr/>
        </p:nvSpPr>
        <p:spPr>
          <a:xfrm>
            <a:off x="785813" y="909042"/>
            <a:ext cx="7786688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Testing Validates 98%+ Accuracy and Successful End-to-End Processing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8"/>
          <p:cNvSpPr/>
          <p:nvPr/>
        </p:nvSpPr>
        <p:spPr>
          <a:xfrm>
            <a:off x="571500" y="1500188"/>
            <a:ext cx="185023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322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3293"/>
              <a:buFont typeface="Calibri"/>
              <a:buNone/>
            </a:pPr>
            <a:r>
              <a:rPr b="1" i="0" lang="en-US" sz="3293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98%+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8"/>
          <p:cNvSpPr/>
          <p:nvPr/>
        </p:nvSpPr>
        <p:spPr>
          <a:xfrm>
            <a:off x="571500" y="2028825"/>
            <a:ext cx="1850231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Extraction Accuracy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8"/>
          <p:cNvSpPr/>
          <p:nvPr/>
        </p:nvSpPr>
        <p:spPr>
          <a:xfrm>
            <a:off x="571500" y="2239566"/>
            <a:ext cx="185023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Across all test invoices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8"/>
          <p:cNvSpPr/>
          <p:nvPr/>
        </p:nvSpPr>
        <p:spPr>
          <a:xfrm>
            <a:off x="571500" y="2661047"/>
            <a:ext cx="185023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322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3293"/>
              <a:buFont typeface="Calibri"/>
              <a:buNone/>
            </a:pPr>
            <a:r>
              <a:rPr b="1" i="0" lang="en-US" sz="3293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~10s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8"/>
          <p:cNvSpPr/>
          <p:nvPr/>
        </p:nvSpPr>
        <p:spPr>
          <a:xfrm>
            <a:off x="571500" y="3189684"/>
            <a:ext cx="1850231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Processing Time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8"/>
          <p:cNvSpPr/>
          <p:nvPr/>
        </p:nvSpPr>
        <p:spPr>
          <a:xfrm>
            <a:off x="571500" y="3400425"/>
            <a:ext cx="185023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Per invoice average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8"/>
          <p:cNvSpPr/>
          <p:nvPr/>
        </p:nvSpPr>
        <p:spPr>
          <a:xfrm>
            <a:off x="571500" y="3821906"/>
            <a:ext cx="185023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322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3293"/>
              <a:buFont typeface="Calibri"/>
              <a:buNone/>
            </a:pPr>
            <a:r>
              <a:rPr b="1" i="0" lang="en-US" sz="3293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8"/>
          <p:cNvSpPr/>
          <p:nvPr/>
        </p:nvSpPr>
        <p:spPr>
          <a:xfrm>
            <a:off x="571500" y="4350544"/>
            <a:ext cx="1850231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Error Detection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8"/>
          <p:cNvSpPr/>
          <p:nvPr/>
        </p:nvSpPr>
        <p:spPr>
          <a:xfrm>
            <a:off x="571500" y="4561284"/>
            <a:ext cx="185023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Low-confidence items flagged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8"/>
          <p:cNvSpPr/>
          <p:nvPr/>
        </p:nvSpPr>
        <p:spPr>
          <a:xfrm>
            <a:off x="3143250" y="1500188"/>
            <a:ext cx="10330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107"/>
              </a:lnSpc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8"/>
          <p:cNvSpPr/>
          <p:nvPr/>
        </p:nvSpPr>
        <p:spPr>
          <a:xfrm>
            <a:off x="3353712" y="1500188"/>
            <a:ext cx="2361288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Minimum 4+ rows successfully written to Google Sheet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8"/>
          <p:cNvSpPr/>
          <p:nvPr/>
        </p:nvSpPr>
        <p:spPr>
          <a:xfrm>
            <a:off x="6000750" y="1500188"/>
            <a:ext cx="10330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107"/>
              </a:lnSpc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8"/>
          <p:cNvSpPr/>
          <p:nvPr/>
        </p:nvSpPr>
        <p:spPr>
          <a:xfrm>
            <a:off x="6211212" y="1500188"/>
            <a:ext cx="2361288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Low-confidence warnings properly logged and documented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8"/>
          <p:cNvSpPr/>
          <p:nvPr/>
        </p:nvSpPr>
        <p:spPr>
          <a:xfrm>
            <a:off x="3143250" y="2003096"/>
            <a:ext cx="10330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107"/>
              </a:lnSpc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8"/>
          <p:cNvSpPr/>
          <p:nvPr/>
        </p:nvSpPr>
        <p:spPr>
          <a:xfrm>
            <a:off x="3353712" y="2003096"/>
            <a:ext cx="2361288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All 5 columns populated with correct data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8"/>
          <p:cNvSpPr/>
          <p:nvPr/>
        </p:nvSpPr>
        <p:spPr>
          <a:xfrm>
            <a:off x="6000750" y="2003096"/>
            <a:ext cx="10330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107"/>
              </a:lnSpc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8"/>
          <p:cNvSpPr/>
          <p:nvPr/>
        </p:nvSpPr>
        <p:spPr>
          <a:xfrm>
            <a:off x="6211212" y="2003096"/>
            <a:ext cx="2361288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Date filtering correctly excludes invoices after Sept 22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8"/>
          <p:cNvSpPr/>
          <p:nvPr/>
        </p:nvSpPr>
        <p:spPr>
          <a:xfrm>
            <a:off x="3143250" y="2506005"/>
            <a:ext cx="10330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107"/>
              </a:lnSpc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8"/>
          <p:cNvSpPr/>
          <p:nvPr/>
        </p:nvSpPr>
        <p:spPr>
          <a:xfrm>
            <a:off x="3353712" y="2506005"/>
            <a:ext cx="2361288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AI-generated descriptions are concise (15 words or less)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8"/>
          <p:cNvSpPr/>
          <p:nvPr/>
        </p:nvSpPr>
        <p:spPr>
          <a:xfrm>
            <a:off x="6000750" y="2506005"/>
            <a:ext cx="10330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107"/>
              </a:lnSpc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8"/>
          <p:cNvSpPr/>
          <p:nvPr/>
        </p:nvSpPr>
        <p:spPr>
          <a:xfrm>
            <a:off x="6211212" y="2506005"/>
            <a:ext cx="2361288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Error handling functional for edge cases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8"/>
          <p:cNvSpPr/>
          <p:nvPr/>
        </p:nvSpPr>
        <p:spPr>
          <a:xfrm>
            <a:off x="3143250" y="3451910"/>
            <a:ext cx="5429250" cy="1262965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8"/>
          <p:cNvSpPr/>
          <p:nvPr/>
        </p:nvSpPr>
        <p:spPr>
          <a:xfrm>
            <a:off x="3143250" y="3451910"/>
            <a:ext cx="42863" cy="1262965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8"/>
          <p:cNvSpPr/>
          <p:nvPr/>
        </p:nvSpPr>
        <p:spPr>
          <a:xfrm>
            <a:off x="3321844" y="3630504"/>
            <a:ext cx="507206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Sample Log Output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8"/>
          <p:cNvSpPr/>
          <p:nvPr/>
        </p:nvSpPr>
        <p:spPr>
          <a:xfrm>
            <a:off x="3321844" y="3873391"/>
            <a:ext cx="5072063" cy="18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[LOG] Invoice INV-2025-0452 processed successfully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8"/>
          <p:cNvSpPr/>
          <p:nvPr/>
        </p:nvSpPr>
        <p:spPr>
          <a:xfrm>
            <a:off x="3321844" y="4113405"/>
            <a:ext cx="5072063" cy="365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F6E05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F6E05E"/>
                </a:solidFill>
                <a:latin typeface="Calibri"/>
                <a:ea typeface="Calibri"/>
                <a:cs typeface="Calibri"/>
                <a:sym typeface="Calibri"/>
              </a:rPr>
              <a:t>[LOG] Invoice INV-2025-0446 requires manual check: low confidence on total amount (confidence: 0.65)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8"/>
          <p:cNvSpPr/>
          <p:nvPr/>
        </p:nvSpPr>
        <p:spPr>
          <a:xfrm>
            <a:off x="8743810" y="4793456"/>
            <a:ext cx="11444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4" name="Google Shape;41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075" y="73700"/>
            <a:ext cx="866775" cy="1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20" name="Google Shape;42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279231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9"/>
          <p:cNvSpPr/>
          <p:nvPr/>
        </p:nvSpPr>
        <p:spPr>
          <a:xfrm>
            <a:off x="571500" y="428625"/>
            <a:ext cx="8001000" cy="71437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9"/>
          <p:cNvSpPr/>
          <p:nvPr/>
        </p:nvSpPr>
        <p:spPr>
          <a:xfrm>
            <a:off x="571500" y="428625"/>
            <a:ext cx="57150" cy="714375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9"/>
          <p:cNvSpPr/>
          <p:nvPr/>
        </p:nvSpPr>
        <p:spPr>
          <a:xfrm>
            <a:off x="785813" y="428625"/>
            <a:ext cx="7786688" cy="40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Impact &amp; Time Savings Analysis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9"/>
          <p:cNvSpPr/>
          <p:nvPr/>
        </p:nvSpPr>
        <p:spPr>
          <a:xfrm>
            <a:off x="785813" y="909042"/>
            <a:ext cx="7786688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Automation Reclaims 25+ Hours Annually While Eliminating Errors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9"/>
          <p:cNvSpPr/>
          <p:nvPr/>
        </p:nvSpPr>
        <p:spPr>
          <a:xfrm>
            <a:off x="571500" y="1428750"/>
            <a:ext cx="2293144" cy="2160984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9"/>
          <p:cNvSpPr/>
          <p:nvPr/>
        </p:nvSpPr>
        <p:spPr>
          <a:xfrm>
            <a:off x="571500" y="1428750"/>
            <a:ext cx="2293144" cy="28575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9"/>
          <p:cNvSpPr/>
          <p:nvPr/>
        </p:nvSpPr>
        <p:spPr>
          <a:xfrm>
            <a:off x="750094" y="1607344"/>
            <a:ext cx="193595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Manual Process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9"/>
          <p:cNvSpPr/>
          <p:nvPr/>
        </p:nvSpPr>
        <p:spPr>
          <a:xfrm>
            <a:off x="750094" y="1925241"/>
            <a:ext cx="193595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Time Per Invoice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9"/>
          <p:cNvSpPr/>
          <p:nvPr/>
        </p:nvSpPr>
        <p:spPr>
          <a:xfrm>
            <a:off x="750094" y="2089547"/>
            <a:ext cx="1935956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5-10 minutes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9"/>
          <p:cNvSpPr/>
          <p:nvPr/>
        </p:nvSpPr>
        <p:spPr>
          <a:xfrm>
            <a:off x="750094" y="2411016"/>
            <a:ext cx="193595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Annual Impact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9"/>
          <p:cNvSpPr/>
          <p:nvPr/>
        </p:nvSpPr>
        <p:spPr>
          <a:xfrm>
            <a:off x="750094" y="2575322"/>
            <a:ext cx="1935956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26+ hours work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9"/>
          <p:cNvSpPr/>
          <p:nvPr/>
        </p:nvSpPr>
        <p:spPr>
          <a:xfrm>
            <a:off x="750094" y="2896791"/>
            <a:ext cx="193595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9"/>
          <p:cNvSpPr/>
          <p:nvPr/>
        </p:nvSpPr>
        <p:spPr>
          <a:xfrm>
            <a:off x="750094" y="3061097"/>
            <a:ext cx="1935956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High opportunity cost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9"/>
          <p:cNvSpPr/>
          <p:nvPr/>
        </p:nvSpPr>
        <p:spPr>
          <a:xfrm>
            <a:off x="3078956" y="1428750"/>
            <a:ext cx="2293144" cy="2160984"/>
          </a:xfrm>
          <a:prstGeom prst="rect">
            <a:avLst/>
          </a:prstGeom>
          <a:solidFill>
            <a:srgbClr val="FF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9"/>
          <p:cNvSpPr/>
          <p:nvPr/>
        </p:nvSpPr>
        <p:spPr>
          <a:xfrm>
            <a:off x="3078956" y="1428750"/>
            <a:ext cx="2293144" cy="28575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9"/>
          <p:cNvSpPr/>
          <p:nvPr/>
        </p:nvSpPr>
        <p:spPr>
          <a:xfrm>
            <a:off x="3257550" y="1607344"/>
            <a:ext cx="193595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C05621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C05621"/>
                </a:solidFill>
                <a:latin typeface="Calibri"/>
                <a:ea typeface="Calibri"/>
                <a:cs typeface="Calibri"/>
                <a:sym typeface="Calibri"/>
              </a:rPr>
              <a:t>AI-Powered Workflow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9"/>
          <p:cNvSpPr/>
          <p:nvPr/>
        </p:nvSpPr>
        <p:spPr>
          <a:xfrm>
            <a:off x="3257550" y="1925241"/>
            <a:ext cx="193595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Time Per Invoice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9"/>
          <p:cNvSpPr/>
          <p:nvPr/>
        </p:nvSpPr>
        <p:spPr>
          <a:xfrm>
            <a:off x="3257550" y="2089547"/>
            <a:ext cx="1935956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~10 seconds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9"/>
          <p:cNvSpPr/>
          <p:nvPr/>
        </p:nvSpPr>
        <p:spPr>
          <a:xfrm>
            <a:off x="3257550" y="2411016"/>
            <a:ext cx="193595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Annual Impact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9"/>
          <p:cNvSpPr/>
          <p:nvPr/>
        </p:nvSpPr>
        <p:spPr>
          <a:xfrm>
            <a:off x="3257550" y="2575322"/>
            <a:ext cx="1935956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Reclaim 25+ hours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9"/>
          <p:cNvSpPr/>
          <p:nvPr/>
        </p:nvSpPr>
        <p:spPr>
          <a:xfrm>
            <a:off x="3257550" y="2896791"/>
            <a:ext cx="193595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9"/>
          <p:cNvSpPr/>
          <p:nvPr/>
        </p:nvSpPr>
        <p:spPr>
          <a:xfrm>
            <a:off x="3257550" y="3061097"/>
            <a:ext cx="1935956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Minimal setup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9"/>
          <p:cNvSpPr/>
          <p:nvPr/>
        </p:nvSpPr>
        <p:spPr>
          <a:xfrm>
            <a:off x="571500" y="4068366"/>
            <a:ext cx="480060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Additional Business Benefits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9"/>
          <p:cNvSpPr/>
          <p:nvPr/>
        </p:nvSpPr>
        <p:spPr>
          <a:xfrm>
            <a:off x="571500" y="4386263"/>
            <a:ext cx="82655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9"/>
          <p:cNvSpPr/>
          <p:nvPr/>
        </p:nvSpPr>
        <p:spPr>
          <a:xfrm>
            <a:off x="725593" y="4390727"/>
            <a:ext cx="1057052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100% data accuracy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9"/>
          <p:cNvSpPr/>
          <p:nvPr/>
        </p:nvSpPr>
        <p:spPr>
          <a:xfrm>
            <a:off x="3025378" y="4386263"/>
            <a:ext cx="82655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9"/>
          <p:cNvSpPr/>
          <p:nvPr/>
        </p:nvSpPr>
        <p:spPr>
          <a:xfrm>
            <a:off x="3179471" y="4390727"/>
            <a:ext cx="83612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24/7 availability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9"/>
          <p:cNvSpPr/>
          <p:nvPr/>
        </p:nvSpPr>
        <p:spPr>
          <a:xfrm>
            <a:off x="571500" y="4657725"/>
            <a:ext cx="82655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9"/>
          <p:cNvSpPr/>
          <p:nvPr/>
        </p:nvSpPr>
        <p:spPr>
          <a:xfrm>
            <a:off x="725593" y="4662190"/>
            <a:ext cx="1354131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Scalability (100+ invoices)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9"/>
          <p:cNvSpPr/>
          <p:nvPr/>
        </p:nvSpPr>
        <p:spPr>
          <a:xfrm>
            <a:off x="3025378" y="4657725"/>
            <a:ext cx="82655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9"/>
          <p:cNvSpPr/>
          <p:nvPr/>
        </p:nvSpPr>
        <p:spPr>
          <a:xfrm>
            <a:off x="3179471" y="4662190"/>
            <a:ext cx="733462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Full audit trail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9"/>
          <p:cNvSpPr/>
          <p:nvPr/>
        </p:nvSpPr>
        <p:spPr>
          <a:xfrm>
            <a:off x="5729288" y="1428750"/>
            <a:ext cx="2843213" cy="32146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3" name="Google Shape;45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2163" y="2319151"/>
            <a:ext cx="2557463" cy="143388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9"/>
          <p:cNvSpPr/>
          <p:nvPr/>
        </p:nvSpPr>
        <p:spPr>
          <a:xfrm>
            <a:off x="8743810" y="4900613"/>
            <a:ext cx="11444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5" name="Google Shape;455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8600" y="130800"/>
            <a:ext cx="866775" cy="1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61" name="Google Shape;46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10"/>
          <p:cNvSpPr/>
          <p:nvPr/>
        </p:nvSpPr>
        <p:spPr>
          <a:xfrm>
            <a:off x="571500" y="428625"/>
            <a:ext cx="8001000" cy="71437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0"/>
          <p:cNvSpPr/>
          <p:nvPr/>
        </p:nvSpPr>
        <p:spPr>
          <a:xfrm>
            <a:off x="571500" y="428625"/>
            <a:ext cx="57150" cy="714375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0"/>
          <p:cNvSpPr/>
          <p:nvPr/>
        </p:nvSpPr>
        <p:spPr>
          <a:xfrm>
            <a:off x="785813" y="428625"/>
            <a:ext cx="7786688" cy="40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Challenges &amp; Solutions Implemented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0"/>
          <p:cNvSpPr/>
          <p:nvPr/>
        </p:nvSpPr>
        <p:spPr>
          <a:xfrm>
            <a:off x="785813" y="909042"/>
            <a:ext cx="7786688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Comprehensive Solution Addresses Implementation Challenges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0"/>
          <p:cNvSpPr/>
          <p:nvPr/>
        </p:nvSpPr>
        <p:spPr>
          <a:xfrm>
            <a:off x="571500" y="1448395"/>
            <a:ext cx="78542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  <a:t>Challenge 1: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0"/>
          <p:cNvSpPr/>
          <p:nvPr/>
        </p:nvSpPr>
        <p:spPr>
          <a:xfrm>
            <a:off x="1428359" y="1428750"/>
            <a:ext cx="1563002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Varying Invoice Formats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0"/>
          <p:cNvSpPr/>
          <p:nvPr/>
        </p:nvSpPr>
        <p:spPr>
          <a:xfrm>
            <a:off x="571500" y="1660922"/>
            <a:ext cx="4800600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Solution:</a:t>
            </a:r>
            <a:r>
              <a:rPr b="0" i="0" lang="en-US" sz="942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Document Understanding trained on sample invoices to handle multiple formats flexibly.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0"/>
          <p:cNvSpPr/>
          <p:nvPr/>
        </p:nvSpPr>
        <p:spPr>
          <a:xfrm>
            <a:off x="571500" y="2126326"/>
            <a:ext cx="78542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  <a:t>Challenge 2: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0"/>
          <p:cNvSpPr/>
          <p:nvPr/>
        </p:nvSpPr>
        <p:spPr>
          <a:xfrm>
            <a:off x="1428359" y="2106681"/>
            <a:ext cx="1272397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Extraction Accuracy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0"/>
          <p:cNvSpPr/>
          <p:nvPr/>
        </p:nvSpPr>
        <p:spPr>
          <a:xfrm>
            <a:off x="571500" y="2338853"/>
            <a:ext cx="4800600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Solution:</a:t>
            </a:r>
            <a:r>
              <a:rPr b="0" i="0" lang="en-US" sz="942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Implemented confidence threshold (0.7) with automatic flagging of low-confidence extractions.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0"/>
          <p:cNvSpPr/>
          <p:nvPr/>
        </p:nvSpPr>
        <p:spPr>
          <a:xfrm>
            <a:off x="571500" y="2804257"/>
            <a:ext cx="78542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  <a:t>Challenge 3: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0"/>
          <p:cNvSpPr/>
          <p:nvPr/>
        </p:nvSpPr>
        <p:spPr>
          <a:xfrm>
            <a:off x="1428359" y="2784611"/>
            <a:ext cx="1416779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AI Description Quality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0"/>
          <p:cNvSpPr/>
          <p:nvPr/>
        </p:nvSpPr>
        <p:spPr>
          <a:xfrm>
            <a:off x="571500" y="3016783"/>
            <a:ext cx="4800600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Solution:</a:t>
            </a:r>
            <a:r>
              <a:rPr b="0" i="0" lang="en-US" sz="942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Refined prompt to enforce 15-word maximum and emphasize businesslike, practical language.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0"/>
          <p:cNvSpPr/>
          <p:nvPr/>
        </p:nvSpPr>
        <p:spPr>
          <a:xfrm>
            <a:off x="571500" y="3482187"/>
            <a:ext cx="78542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  <a:t>Challenge 4: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0"/>
          <p:cNvSpPr/>
          <p:nvPr/>
        </p:nvSpPr>
        <p:spPr>
          <a:xfrm>
            <a:off x="1428359" y="3462542"/>
            <a:ext cx="882393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Date Filtering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0"/>
          <p:cNvSpPr/>
          <p:nvPr/>
        </p:nvSpPr>
        <p:spPr>
          <a:xfrm>
            <a:off x="571500" y="3694714"/>
            <a:ext cx="4800600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Solution:</a:t>
            </a:r>
            <a:r>
              <a:rPr b="0" i="0" lang="en-US" sz="942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Workflow logic checks due date field and only writes qualifying invoices to Google Sheets.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0"/>
          <p:cNvSpPr/>
          <p:nvPr/>
        </p:nvSpPr>
        <p:spPr>
          <a:xfrm>
            <a:off x="571500" y="4160118"/>
            <a:ext cx="78542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  <a:t>Challenge 5: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1428359" y="4140473"/>
            <a:ext cx="128241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Google Drive Access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0"/>
          <p:cNvSpPr/>
          <p:nvPr/>
        </p:nvSpPr>
        <p:spPr>
          <a:xfrm>
            <a:off x="571500" y="4372645"/>
            <a:ext cx="4800600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Solution:</a:t>
            </a:r>
            <a:r>
              <a:rPr b="0" i="0" lang="en-US" sz="942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API credentials securely configured in UiPath with proper authentication and permissions.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0"/>
          <p:cNvSpPr/>
          <p:nvPr/>
        </p:nvSpPr>
        <p:spPr>
          <a:xfrm>
            <a:off x="5692118" y="1428750"/>
            <a:ext cx="2800350" cy="3571875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2" name="Google Shape;48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4986" y="2479328"/>
            <a:ext cx="2614613" cy="147072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10"/>
          <p:cNvSpPr/>
          <p:nvPr/>
        </p:nvSpPr>
        <p:spPr>
          <a:xfrm>
            <a:off x="8743810" y="4864894"/>
            <a:ext cx="11444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4" name="Google Shape;484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1150" y="108975"/>
            <a:ext cx="866775" cy="1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90" name="Google Shape;49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11"/>
          <p:cNvSpPr/>
          <p:nvPr/>
        </p:nvSpPr>
        <p:spPr>
          <a:xfrm>
            <a:off x="571500" y="428625"/>
            <a:ext cx="8001000" cy="71437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1"/>
          <p:cNvSpPr/>
          <p:nvPr/>
        </p:nvSpPr>
        <p:spPr>
          <a:xfrm>
            <a:off x="571500" y="428625"/>
            <a:ext cx="57150" cy="714375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1"/>
          <p:cNvSpPr/>
          <p:nvPr/>
        </p:nvSpPr>
        <p:spPr>
          <a:xfrm>
            <a:off x="785813" y="428625"/>
            <a:ext cx="7786688" cy="40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Future Roadmap &amp; Scalability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1"/>
          <p:cNvSpPr/>
          <p:nvPr/>
        </p:nvSpPr>
        <p:spPr>
          <a:xfrm>
            <a:off x="785813" y="909042"/>
            <a:ext cx="7786688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Scalable Architecture Supports Future Enhancements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1"/>
          <p:cNvSpPr/>
          <p:nvPr/>
        </p:nvSpPr>
        <p:spPr>
          <a:xfrm>
            <a:off x="571500" y="1314450"/>
            <a:ext cx="2524116" cy="148941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1"/>
          <p:cNvSpPr/>
          <p:nvPr/>
        </p:nvSpPr>
        <p:spPr>
          <a:xfrm>
            <a:off x="571500" y="1314450"/>
            <a:ext cx="2524116" cy="28575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1"/>
          <p:cNvSpPr/>
          <p:nvPr/>
        </p:nvSpPr>
        <p:spPr>
          <a:xfrm>
            <a:off x="657225" y="1400175"/>
            <a:ext cx="235266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Short-Term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1"/>
          <p:cNvSpPr/>
          <p:nvPr/>
        </p:nvSpPr>
        <p:spPr>
          <a:xfrm>
            <a:off x="657225" y="1660922"/>
            <a:ext cx="42974" cy="159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CBD5E0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1"/>
          <p:cNvSpPr/>
          <p:nvPr/>
        </p:nvSpPr>
        <p:spPr>
          <a:xfrm>
            <a:off x="764381" y="1662708"/>
            <a:ext cx="1773045" cy="315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Monitor multiple supplier folders simultaneously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1"/>
          <p:cNvSpPr/>
          <p:nvPr/>
        </p:nvSpPr>
        <p:spPr>
          <a:xfrm>
            <a:off x="657225" y="2038090"/>
            <a:ext cx="42974" cy="159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CBD5E0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1"/>
          <p:cNvSpPr/>
          <p:nvPr/>
        </p:nvSpPr>
        <p:spPr>
          <a:xfrm>
            <a:off x="764381" y="2039875"/>
            <a:ext cx="2004268" cy="315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Expand to additional document types (POs, receipts)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1"/>
          <p:cNvSpPr/>
          <p:nvPr/>
        </p:nvSpPr>
        <p:spPr>
          <a:xfrm>
            <a:off x="657225" y="2415257"/>
            <a:ext cx="42974" cy="159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CBD5E0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1"/>
          <p:cNvSpPr/>
          <p:nvPr/>
        </p:nvSpPr>
        <p:spPr>
          <a:xfrm>
            <a:off x="764381" y="2417043"/>
            <a:ext cx="1793277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Add real-time processing triggers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1"/>
          <p:cNvSpPr/>
          <p:nvPr/>
        </p:nvSpPr>
        <p:spPr>
          <a:xfrm>
            <a:off x="3309928" y="1314450"/>
            <a:ext cx="2524116" cy="148941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1"/>
          <p:cNvSpPr/>
          <p:nvPr/>
        </p:nvSpPr>
        <p:spPr>
          <a:xfrm>
            <a:off x="3309928" y="1314450"/>
            <a:ext cx="2524116" cy="28575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1"/>
          <p:cNvSpPr/>
          <p:nvPr/>
        </p:nvSpPr>
        <p:spPr>
          <a:xfrm>
            <a:off x="3395653" y="1400175"/>
            <a:ext cx="235266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Medium-Term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1"/>
          <p:cNvSpPr/>
          <p:nvPr/>
        </p:nvSpPr>
        <p:spPr>
          <a:xfrm>
            <a:off x="3395653" y="1660922"/>
            <a:ext cx="42974" cy="159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CBD5E0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1"/>
          <p:cNvSpPr/>
          <p:nvPr/>
        </p:nvSpPr>
        <p:spPr>
          <a:xfrm>
            <a:off x="3502809" y="1662708"/>
            <a:ext cx="2228738" cy="315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Integrate with payment systems for auto-scheduling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1"/>
          <p:cNvSpPr/>
          <p:nvPr/>
        </p:nvSpPr>
        <p:spPr>
          <a:xfrm>
            <a:off x="3395653" y="2038090"/>
            <a:ext cx="42974" cy="159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CBD5E0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1"/>
          <p:cNvSpPr/>
          <p:nvPr/>
        </p:nvSpPr>
        <p:spPr>
          <a:xfrm>
            <a:off x="3502809" y="2039875"/>
            <a:ext cx="178504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Add supplier analytics dashboard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1"/>
          <p:cNvSpPr/>
          <p:nvPr/>
        </p:nvSpPr>
        <p:spPr>
          <a:xfrm>
            <a:off x="3395653" y="2255248"/>
            <a:ext cx="42974" cy="159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CBD5E0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1"/>
          <p:cNvSpPr/>
          <p:nvPr/>
        </p:nvSpPr>
        <p:spPr>
          <a:xfrm>
            <a:off x="3502809" y="2257034"/>
            <a:ext cx="2161208" cy="315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Implement approval workflows for high-value invoices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1"/>
          <p:cNvSpPr/>
          <p:nvPr/>
        </p:nvSpPr>
        <p:spPr>
          <a:xfrm>
            <a:off x="6048356" y="1314450"/>
            <a:ext cx="2524144" cy="148941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1"/>
          <p:cNvSpPr/>
          <p:nvPr/>
        </p:nvSpPr>
        <p:spPr>
          <a:xfrm>
            <a:off x="6048356" y="1314450"/>
            <a:ext cx="2524144" cy="28575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1"/>
          <p:cNvSpPr/>
          <p:nvPr/>
        </p:nvSpPr>
        <p:spPr>
          <a:xfrm>
            <a:off x="6134081" y="1400175"/>
            <a:ext cx="2352694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Long-Term Vision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1"/>
          <p:cNvSpPr/>
          <p:nvPr/>
        </p:nvSpPr>
        <p:spPr>
          <a:xfrm>
            <a:off x="6134081" y="1660922"/>
            <a:ext cx="42974" cy="159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1"/>
          <p:cNvSpPr/>
          <p:nvPr/>
        </p:nvSpPr>
        <p:spPr>
          <a:xfrm>
            <a:off x="6241238" y="1662708"/>
            <a:ext cx="2175830" cy="315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Multi-language support for international invoices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1"/>
          <p:cNvSpPr/>
          <p:nvPr/>
        </p:nvSpPr>
        <p:spPr>
          <a:xfrm>
            <a:off x="6134081" y="2038090"/>
            <a:ext cx="42974" cy="159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1"/>
          <p:cNvSpPr/>
          <p:nvPr/>
        </p:nvSpPr>
        <p:spPr>
          <a:xfrm>
            <a:off x="6241238" y="2039875"/>
            <a:ext cx="1918432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ML model continuous improvement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1"/>
          <p:cNvSpPr/>
          <p:nvPr/>
        </p:nvSpPr>
        <p:spPr>
          <a:xfrm>
            <a:off x="6134081" y="2255248"/>
            <a:ext cx="42974" cy="159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1"/>
          <p:cNvSpPr/>
          <p:nvPr/>
        </p:nvSpPr>
        <p:spPr>
          <a:xfrm>
            <a:off x="6241238" y="2257034"/>
            <a:ext cx="1500662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Enterprise-wide automation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1"/>
          <p:cNvSpPr/>
          <p:nvPr/>
        </p:nvSpPr>
        <p:spPr>
          <a:xfrm>
            <a:off x="6134081" y="2472407"/>
            <a:ext cx="42974" cy="159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816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1"/>
          <p:cNvSpPr/>
          <p:nvPr/>
        </p:nvSpPr>
        <p:spPr>
          <a:xfrm>
            <a:off x="6241238" y="2474193"/>
            <a:ext cx="1622971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Real-time financial forecasting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1"/>
          <p:cNvSpPr/>
          <p:nvPr/>
        </p:nvSpPr>
        <p:spPr>
          <a:xfrm>
            <a:off x="571500" y="2903879"/>
            <a:ext cx="8001000" cy="1810996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1"/>
          <p:cNvSpPr/>
          <p:nvPr/>
        </p:nvSpPr>
        <p:spPr>
          <a:xfrm>
            <a:off x="571500" y="2903879"/>
            <a:ext cx="8001000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1"/>
          <p:cNvSpPr/>
          <p:nvPr/>
        </p:nvSpPr>
        <p:spPr>
          <a:xfrm>
            <a:off x="571500" y="2989604"/>
            <a:ext cx="400050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Scalability Notes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1"/>
          <p:cNvSpPr/>
          <p:nvPr/>
        </p:nvSpPr>
        <p:spPr>
          <a:xfrm>
            <a:off x="571500" y="3269996"/>
            <a:ext cx="128615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↗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1"/>
          <p:cNvSpPr/>
          <p:nvPr/>
        </p:nvSpPr>
        <p:spPr>
          <a:xfrm>
            <a:off x="771553" y="3269996"/>
            <a:ext cx="3800447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Current setup handles 6 invoices; easily scales to 100+ per week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1"/>
          <p:cNvSpPr/>
          <p:nvPr/>
        </p:nvSpPr>
        <p:spPr>
          <a:xfrm>
            <a:off x="571500" y="3691477"/>
            <a:ext cx="128615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↗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1"/>
          <p:cNvSpPr/>
          <p:nvPr/>
        </p:nvSpPr>
        <p:spPr>
          <a:xfrm>
            <a:off x="771553" y="3691477"/>
            <a:ext cx="3800447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No additional infrastructure needed; same system processes any volume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1"/>
          <p:cNvSpPr/>
          <p:nvPr/>
        </p:nvSpPr>
        <p:spPr>
          <a:xfrm>
            <a:off x="571500" y="4112958"/>
            <a:ext cx="128615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↗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1"/>
          <p:cNvSpPr/>
          <p:nvPr/>
        </p:nvSpPr>
        <p:spPr>
          <a:xfrm>
            <a:off x="771553" y="4112958"/>
            <a:ext cx="3800447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Training and support streamlined for expanding to other teams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1"/>
          <p:cNvSpPr/>
          <p:nvPr/>
        </p:nvSpPr>
        <p:spPr>
          <a:xfrm>
            <a:off x="4743450" y="2989604"/>
            <a:ext cx="3829050" cy="10001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4" name="Google Shape;53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3893" y="3061041"/>
            <a:ext cx="1288135" cy="857222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11"/>
          <p:cNvSpPr/>
          <p:nvPr/>
        </p:nvSpPr>
        <p:spPr>
          <a:xfrm>
            <a:off x="8743810" y="4793456"/>
            <a:ext cx="11444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6" name="Google Shape;536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5325" y="62950"/>
            <a:ext cx="866775" cy="1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42" name="Google Shape;54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12"/>
          <p:cNvSpPr/>
          <p:nvPr/>
        </p:nvSpPr>
        <p:spPr>
          <a:xfrm>
            <a:off x="571500" y="428625"/>
            <a:ext cx="8001000" cy="71437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2"/>
          <p:cNvSpPr/>
          <p:nvPr/>
        </p:nvSpPr>
        <p:spPr>
          <a:xfrm>
            <a:off x="571500" y="428625"/>
            <a:ext cx="57150" cy="714375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2"/>
          <p:cNvSpPr/>
          <p:nvPr/>
        </p:nvSpPr>
        <p:spPr>
          <a:xfrm>
            <a:off x="785813" y="428625"/>
            <a:ext cx="7786688" cy="40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Conclusion &amp; Key Takeaways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2"/>
          <p:cNvSpPr/>
          <p:nvPr/>
        </p:nvSpPr>
        <p:spPr>
          <a:xfrm>
            <a:off x="785813" y="909042"/>
            <a:ext cx="7786688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RPA and AI Transform Financial Operations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2"/>
          <p:cNvSpPr/>
          <p:nvPr/>
        </p:nvSpPr>
        <p:spPr>
          <a:xfrm>
            <a:off x="571500" y="1285875"/>
            <a:ext cx="7143750" cy="707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93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59"/>
              <a:buFont typeface="Calibri"/>
              <a:buNone/>
            </a:pPr>
            <a:r>
              <a:rPr b="0" i="0" lang="en-US" sz="1159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We have built a complete </a:t>
            </a:r>
            <a:r>
              <a:rPr b="1" i="0" lang="en-US" sz="109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RPA + AI automation solution</a:t>
            </a:r>
            <a:r>
              <a:rPr b="0" i="0" lang="en-US" sz="1159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 that transforms invoice processing from manual, error-prone work into a fast, accurate, scalable system by combining UiPath's Document Understanding, GenAI, and Google Sheets.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2"/>
          <p:cNvSpPr/>
          <p:nvPr/>
        </p:nvSpPr>
        <p:spPr>
          <a:xfrm>
            <a:off x="571500" y="2235994"/>
            <a:ext cx="257175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Time Saved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2"/>
          <p:cNvSpPr/>
          <p:nvPr/>
        </p:nvSpPr>
        <p:spPr>
          <a:xfrm>
            <a:off x="571500" y="2427089"/>
            <a:ext cx="2571750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25+ Hours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2"/>
          <p:cNvSpPr/>
          <p:nvPr/>
        </p:nvSpPr>
        <p:spPr>
          <a:xfrm>
            <a:off x="571500" y="2736056"/>
            <a:ext cx="257175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Annually per team member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2"/>
          <p:cNvSpPr/>
          <p:nvPr/>
        </p:nvSpPr>
        <p:spPr>
          <a:xfrm>
            <a:off x="3286125" y="2235994"/>
            <a:ext cx="257175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Error Reduction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2"/>
          <p:cNvSpPr/>
          <p:nvPr/>
        </p:nvSpPr>
        <p:spPr>
          <a:xfrm>
            <a:off x="3286125" y="2427089"/>
            <a:ext cx="2571750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2"/>
          <p:cNvSpPr/>
          <p:nvPr/>
        </p:nvSpPr>
        <p:spPr>
          <a:xfrm>
            <a:off x="3286125" y="2736056"/>
            <a:ext cx="257175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Data accuracy through automation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2"/>
          <p:cNvSpPr/>
          <p:nvPr/>
        </p:nvSpPr>
        <p:spPr>
          <a:xfrm>
            <a:off x="6000750" y="2235994"/>
            <a:ext cx="257175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Intelligence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2"/>
          <p:cNvSpPr/>
          <p:nvPr/>
        </p:nvSpPr>
        <p:spPr>
          <a:xfrm>
            <a:off x="6000750" y="2427089"/>
            <a:ext cx="2571750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AI-Powered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2"/>
          <p:cNvSpPr/>
          <p:nvPr/>
        </p:nvSpPr>
        <p:spPr>
          <a:xfrm>
            <a:off x="6000750" y="2736056"/>
            <a:ext cx="257175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Insights at document speed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2"/>
          <p:cNvSpPr/>
          <p:nvPr/>
        </p:nvSpPr>
        <p:spPr>
          <a:xfrm>
            <a:off x="571500" y="3134320"/>
            <a:ext cx="257175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Scalability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2"/>
          <p:cNvSpPr/>
          <p:nvPr/>
        </p:nvSpPr>
        <p:spPr>
          <a:xfrm>
            <a:off x="571500" y="3325416"/>
            <a:ext cx="2571750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10x Volume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2"/>
          <p:cNvSpPr/>
          <p:nvPr/>
        </p:nvSpPr>
        <p:spPr>
          <a:xfrm>
            <a:off x="571500" y="3634383"/>
            <a:ext cx="257175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Process more with same infrastructure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2"/>
          <p:cNvSpPr/>
          <p:nvPr/>
        </p:nvSpPr>
        <p:spPr>
          <a:xfrm>
            <a:off x="3286125" y="3134320"/>
            <a:ext cx="257175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Business Value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2"/>
          <p:cNvSpPr/>
          <p:nvPr/>
        </p:nvSpPr>
        <p:spPr>
          <a:xfrm>
            <a:off x="3286125" y="3325416"/>
            <a:ext cx="2571750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Strategic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2"/>
          <p:cNvSpPr/>
          <p:nvPr/>
        </p:nvSpPr>
        <p:spPr>
          <a:xfrm>
            <a:off x="3286125" y="3634383"/>
            <a:ext cx="257175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Focus on analysis, not data entry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2"/>
          <p:cNvSpPr/>
          <p:nvPr/>
        </p:nvSpPr>
        <p:spPr>
          <a:xfrm>
            <a:off x="571500" y="4075509"/>
            <a:ext cx="8001000" cy="642938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2"/>
          <p:cNvSpPr/>
          <p:nvPr/>
        </p:nvSpPr>
        <p:spPr>
          <a:xfrm>
            <a:off x="571500" y="4075509"/>
            <a:ext cx="42863" cy="642938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2"/>
          <p:cNvSpPr/>
          <p:nvPr/>
        </p:nvSpPr>
        <p:spPr>
          <a:xfrm>
            <a:off x="678656" y="4182666"/>
            <a:ext cx="77866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"This solution is production-ready, reliable, and positioned for enterprise deployment. RPA and AI are practical tools available today to modernize financial operations."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2"/>
          <p:cNvSpPr/>
          <p:nvPr/>
        </p:nvSpPr>
        <p:spPr>
          <a:xfrm>
            <a:off x="8743810" y="4793456"/>
            <a:ext cx="11444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7" name="Google Shape;567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150" y="91525"/>
            <a:ext cx="866775" cy="1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2026-01-05T01:06:34Z</dcterms:created>
  <dc:creator>PptxGenJS</dc:creator>
</cp:coreProperties>
</file>